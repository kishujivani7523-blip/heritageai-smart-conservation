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10.jp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wrap="square">
            <a:normAutofit/>
          </a:bodyPr>
          <a:lstStyle/>
          <a:p>
            <a:pPr algn="ctr"/>
            <a:r>
              <a:rPr sz="2800" b="1">
                <a:solidFill>
                  <a:srgbClr val="1F3453"/>
                </a:solidFill>
                <a:latin typeface="Arial"/>
              </a:rPr>
              <a:t>IBM University Engagement Project Submission</a:t>
            </a: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wrap="square"/>
          <a:lstStyle/>
          <a:p>
            <a:pPr algn="ctr"/>
            <a:r>
              <a:rPr sz="2200" b="1">
                <a:solidFill>
                  <a:srgbClr val="2E6091"/>
                </a:solidFill>
                <a:latin typeface="Arial"/>
              </a:rPr>
              <a:t>“Exploring the Power of Agentic AI with IBM Granite and LangFlow”
Smart Heritage Conservation Platform for Ahmedabad’s Walled City &amp; Modhera</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2" name="Picture 1" descr="Smart Heritage Conservation Platform.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sz="1700" b="0">
                <a:solidFill>
                  <a:srgbClr val="232323"/>
                </a:solidFill>
                <a:latin typeface="Arial"/>
              </a:rPr>
              <a:t>The Challenge
Gujarat’s UNESCO heritage sites, including Ahmedabad’s Walled City and Modhera Sun Temple, face conservation risks from urban encroachment, weathering, and unmanaged tourist footfall, alongside underutilized digital storytelling for visitors.
The Objective
Build Agentic AI solutions that monitor heritage site structural health, manage visitor flow, and deliver immersive, personalized cultural storytelling experiences.
Suggested AI Agents
• Structural Health Monitoring Agent
• Visitor Flow Management Agent
• Personalized Heritage Storytelling Agent
• Encroachment Detection Agent
• Conservation Reporting Dashboard Agent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r>
              <a:rPr sz="1800" b="0">
                <a:solidFill>
                  <a:srgbClr val="232323"/>
                </a:solidFill>
                <a:latin typeface="Arial"/>
              </a:rPr>
              <a:t>The proposed solution is HeritageAI, a smart conservation platform that brings together five specialized Agentic AI modules for Ahmedabad’s Walled City and Modhera Sun Temple.
The platform combines structural monitoring, visitor-flow analysis, heritage storytelling, encroachment detection, and automated conservation reporting. Data such as IoT sensor readings, visitor counters, satellite/drone imagery, and historical information is processed by specialized AI agents to support timely conservation decisions.
The overall pipeline is: Data Collection → AI Agents → Analysis → Decision → Conservation Action.</a:t>
            </a:r>
            <a:endParaRPr lang="en-US" b="1"/>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sz="2200" b="1">
                <a:solidFill>
                  <a:srgbClr val="1F3453"/>
                </a:solidFill>
                <a:latin typeface="Arial"/>
              </a:rPr>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sz="1700" b="0">
                <a:solidFill>
                  <a:srgbClr val="232323"/>
                </a:solidFill>
                <a:latin typeface="Arial"/>
              </a:rPr>
              <a:t>IBM watsonx.ai / IBM Granite – Used for natural-language understanding, reasoning, personalized storytelling, and AI-driven conservation insights.
IBM Cloud – Provides the cloud environment for building, deploying, and scaling the HeritageAI solution.
LangFlow – Used for visually designing and orchestrating Agentic AI workflows.
AI Data Sources – IoT sensors, visitor counters, satellite imagery, drone feeds, and historical/heritage data support the different conservation agents.
Agentic AI – Coordinates specialized agents so the system can monitor, analyze, prioritize, and produce conservation-oriented outputs.</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sz="2200" b="1">
                <a:solidFill>
                  <a:srgbClr val="1F3453"/>
                </a:solidFill>
                <a:latin typeface="Arial"/>
              </a:rPr>
              <a:t>LangFlow Components Used – HeritageAI</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r>
              <a:rPr sz="1600" b="0">
                <a:solidFill>
                  <a:srgbClr val="232323"/>
                </a:solidFill>
                <a:latin typeface="Arial"/>
              </a:rPr>
              <a:t>1) Input / Data Collection – Receives visitor information, sensor data, imagery, and heritage queries.
2) IBM watsonx.ai Agent – Processes inputs and coordinates AI reasoning for conservation tasks.
3) IBM Granite LLM – Supports natural-language understanding, reasoning, and personalized heritage storytelling.
4) Specialized Agent Modules – Structural Health Monitor, Visitor Flow Manager, Heritage Storyteller, Encroachment Detector, and Conservation Reporter.
5) Output / Reporting – Produces alerts, visitor-flow insights, personalized stories, and prioritized conservation reports.</a:t>
            </a: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sz="2200" b="1">
                <a:solidFill>
                  <a:srgbClr val="1F3453"/>
                </a:solidFill>
                <a:latin typeface="Arial"/>
              </a:rPr>
              <a:t>LangFlow Workflow – HeritageAI</a:t>
            </a:r>
            <a:endParaRPr sz="2400" b="1">
              <a:sym typeface="Times New Roman"/>
            </a:endParaRPr>
          </a:p>
        </p:txBody>
      </p:sp>
      <p:sp>
        <p:nvSpPr>
          <p:cNvPr id="3" name="Rounded Rectangle 2"/>
          <p:cNvSpPr/>
          <p:nvPr/>
        </p:nvSpPr>
        <p:spPr>
          <a:xfrm>
            <a:off x="411480" y="2057400"/>
            <a:ext cx="1874519" cy="22402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453"/>
                </a:solidFill>
                <a:latin typeface="Arial"/>
              </a:rPr>
              <a:t>DATA COLLECTION</a:t>
            </a:r>
          </a:p>
          <a:p>
            <a:pPr algn="ctr">
              <a:spcBef>
                <a:spcPts val="1000"/>
              </a:spcBef>
            </a:pPr>
            <a:r>
              <a:rPr sz="1200">
                <a:solidFill>
                  <a:srgbClr val="232323"/>
                </a:solidFill>
                <a:latin typeface="Arial"/>
              </a:rPr>
              <a:t>IoT sensors
Visitor counters
Satellite / drone feeds
Historical data</a:t>
            </a:r>
          </a:p>
        </p:txBody>
      </p:sp>
      <p:sp>
        <p:nvSpPr>
          <p:cNvPr id="4" name="Right Arrow 3"/>
          <p:cNvSpPr/>
          <p:nvPr/>
        </p:nvSpPr>
        <p:spPr>
          <a:xfrm>
            <a:off x="2313432" y="2880360"/>
            <a:ext cx="347472" cy="411480"/>
          </a:xfrm>
          <a:prstGeom prst="right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697480" y="2057400"/>
            <a:ext cx="1874519" cy="22402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453"/>
                </a:solidFill>
                <a:latin typeface="Arial"/>
              </a:rPr>
              <a:t>AI ORCHESTRATION</a:t>
            </a:r>
          </a:p>
          <a:p>
            <a:pPr algn="ctr">
              <a:spcBef>
                <a:spcPts val="1000"/>
              </a:spcBef>
            </a:pPr>
            <a:r>
              <a:rPr sz="1200">
                <a:solidFill>
                  <a:srgbClr val="232323"/>
                </a:solidFill>
                <a:latin typeface="Arial"/>
              </a:rPr>
              <a:t>IBM watsonx.ai
IBM Granite LLM
LangFlow</a:t>
            </a:r>
          </a:p>
        </p:txBody>
      </p:sp>
      <p:sp>
        <p:nvSpPr>
          <p:cNvPr id="6" name="Right Arrow 5"/>
          <p:cNvSpPr/>
          <p:nvPr/>
        </p:nvSpPr>
        <p:spPr>
          <a:xfrm>
            <a:off x="4599432" y="2880360"/>
            <a:ext cx="347472" cy="411480"/>
          </a:xfrm>
          <a:prstGeom prst="right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83480" y="2057400"/>
            <a:ext cx="1874519" cy="22402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453"/>
                </a:solidFill>
                <a:latin typeface="Arial"/>
              </a:rPr>
              <a:t>5 SPECIALIZED AGENTS</a:t>
            </a:r>
          </a:p>
          <a:p>
            <a:pPr algn="ctr">
              <a:spcBef>
                <a:spcPts val="1000"/>
              </a:spcBef>
            </a:pPr>
            <a:r>
              <a:rPr sz="1200">
                <a:solidFill>
                  <a:srgbClr val="232323"/>
                </a:solidFill>
                <a:latin typeface="Arial"/>
              </a:rPr>
              <a:t>Structural Health
Visitor Flow
Storytelling
Encroachment
Reporting</a:t>
            </a:r>
          </a:p>
        </p:txBody>
      </p:sp>
      <p:sp>
        <p:nvSpPr>
          <p:cNvPr id="8" name="Right Arrow 7"/>
          <p:cNvSpPr/>
          <p:nvPr/>
        </p:nvSpPr>
        <p:spPr>
          <a:xfrm>
            <a:off x="6885432" y="2880360"/>
            <a:ext cx="347472" cy="411480"/>
          </a:xfrm>
          <a:prstGeom prst="right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0" y="2057400"/>
            <a:ext cx="1874519" cy="22402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453"/>
                </a:solidFill>
                <a:latin typeface="Arial"/>
              </a:rPr>
              <a:t>ANALYSIS &amp; DECISION</a:t>
            </a:r>
          </a:p>
          <a:p>
            <a:pPr algn="ctr">
              <a:spcBef>
                <a:spcPts val="1000"/>
              </a:spcBef>
            </a:pPr>
            <a:r>
              <a:rPr sz="1200">
                <a:solidFill>
                  <a:srgbClr val="232323"/>
                </a:solidFill>
                <a:latin typeface="Arial"/>
              </a:rPr>
              <a:t>Risk analysis
Flow management
Personalized stories
Priority assessment</a:t>
            </a:r>
          </a:p>
        </p:txBody>
      </p:sp>
      <p:sp>
        <p:nvSpPr>
          <p:cNvPr id="10" name="Right Arrow 9"/>
          <p:cNvSpPr/>
          <p:nvPr/>
        </p:nvSpPr>
        <p:spPr>
          <a:xfrm>
            <a:off x="9217152" y="2880360"/>
            <a:ext cx="347472" cy="411480"/>
          </a:xfrm>
          <a:prstGeom prst="right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46920" y="2057400"/>
            <a:ext cx="1874519" cy="22402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453"/>
                </a:solidFill>
                <a:latin typeface="Arial"/>
              </a:rPr>
              <a:t>CONSERVATION ACTION</a:t>
            </a:r>
          </a:p>
          <a:p>
            <a:pPr algn="ctr">
              <a:spcBef>
                <a:spcPts val="1000"/>
              </a:spcBef>
            </a:pPr>
            <a:r>
              <a:rPr sz="1200">
                <a:solidFill>
                  <a:srgbClr val="232323"/>
                </a:solidFill>
                <a:latin typeface="Arial"/>
              </a:rPr>
              <a:t>Alerts
Reports
Visitor guidance
Conservation decisions</a:t>
            </a:r>
          </a:p>
        </p:txBody>
      </p:sp>
      <p:sp>
        <p:nvSpPr>
          <p:cNvPr id="12" name="TextBox 11"/>
          <p:cNvSpPr txBox="1"/>
          <p:nvPr/>
        </p:nvSpPr>
        <p:spPr>
          <a:xfrm>
            <a:off x="731520" y="4800600"/>
            <a:ext cx="10698480" cy="640080"/>
          </a:xfrm>
          <a:prstGeom prst="rect">
            <a:avLst/>
          </a:prstGeom>
          <a:noFill/>
        </p:spPr>
        <p:txBody>
          <a:bodyPr wrap="square">
            <a:spAutoFit/>
          </a:bodyPr>
          <a:lstStyle/>
          <a:p>
            <a:pPr algn="ctr"/>
            <a:r>
              <a:rPr sz="1800" b="1">
                <a:solidFill>
                  <a:srgbClr val="1F3453"/>
                </a:solidFill>
                <a:latin typeface="Arial"/>
              </a:rPr>
              <a:t>Data → AI Agents → Analysis → Decision → Conservation Action</a:t>
            </a: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sz="2200" b="1">
                <a:solidFill>
                  <a:srgbClr val="1F3453"/>
                </a:solidFill>
                <a:latin typeface="Arial"/>
              </a:rPr>
              <a:t>Architecture Blueprint – HeritageAI</a:t>
            </a:r>
            <a:endParaRPr lang="en-US" sz="2400"/>
          </a:p>
        </p:txBody>
      </p:sp>
      <p:sp>
        <p:nvSpPr>
          <p:cNvPr id="3" name="Rounded Rectangle 2"/>
          <p:cNvSpPr/>
          <p:nvPr/>
        </p:nvSpPr>
        <p:spPr>
          <a:xfrm>
            <a:off x="914400" y="1097280"/>
            <a:ext cx="10332720" cy="8686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453"/>
                </a:solidFill>
                <a:latin typeface="Arial"/>
              </a:rPr>
              <a:t>DATA LAYER</a:t>
            </a:r>
          </a:p>
          <a:p>
            <a:pPr algn="ctr"/>
            <a:r>
              <a:rPr sz="1200">
                <a:solidFill>
                  <a:srgbClr val="232323"/>
                </a:solidFill>
                <a:latin typeface="Arial"/>
              </a:rPr>
              <a:t>IoT Sensors   |   Visitor Counters   |   Satellite / Drone Imagery   |   Heritage Data</a:t>
            </a:r>
          </a:p>
        </p:txBody>
      </p:sp>
      <p:sp>
        <p:nvSpPr>
          <p:cNvPr id="4" name="Down Arrow 3"/>
          <p:cNvSpPr/>
          <p:nvPr/>
        </p:nvSpPr>
        <p:spPr>
          <a:xfrm>
            <a:off x="5760720" y="1993391"/>
            <a:ext cx="640080" cy="292608"/>
          </a:xfrm>
          <a:prstGeom prst="down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331720"/>
            <a:ext cx="10332720" cy="8686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453"/>
                </a:solidFill>
                <a:latin typeface="Arial"/>
              </a:rPr>
              <a:t>AI / ORCHESTRATION LAYER</a:t>
            </a:r>
          </a:p>
          <a:p>
            <a:pPr algn="ctr"/>
            <a:r>
              <a:rPr sz="1200">
                <a:solidFill>
                  <a:srgbClr val="232323"/>
                </a:solidFill>
                <a:latin typeface="Arial"/>
              </a:rPr>
              <a:t>LangFlow   +   IBM watsonx.ai   +   IBM Granite LLM</a:t>
            </a:r>
          </a:p>
        </p:txBody>
      </p:sp>
      <p:sp>
        <p:nvSpPr>
          <p:cNvPr id="6" name="Down Arrow 5"/>
          <p:cNvSpPr/>
          <p:nvPr/>
        </p:nvSpPr>
        <p:spPr>
          <a:xfrm>
            <a:off x="5760720" y="3227832"/>
            <a:ext cx="640080" cy="292608"/>
          </a:xfrm>
          <a:prstGeom prst="down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3566160"/>
            <a:ext cx="10332720" cy="8686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453"/>
                </a:solidFill>
                <a:latin typeface="Arial"/>
              </a:rPr>
              <a:t>AGENT LAYER</a:t>
            </a:r>
          </a:p>
          <a:p>
            <a:pPr algn="ctr"/>
            <a:r>
              <a:rPr sz="1200">
                <a:solidFill>
                  <a:srgbClr val="232323"/>
                </a:solidFill>
                <a:latin typeface="Arial"/>
              </a:rPr>
              <a:t>Structural Health   |   Visitor Flow   |   Storytelling   |   Encroachment   |   Conservation Reporting</a:t>
            </a:r>
          </a:p>
        </p:txBody>
      </p:sp>
      <p:sp>
        <p:nvSpPr>
          <p:cNvPr id="8" name="Down Arrow 7"/>
          <p:cNvSpPr/>
          <p:nvPr/>
        </p:nvSpPr>
        <p:spPr>
          <a:xfrm>
            <a:off x="5760720" y="4462272"/>
            <a:ext cx="640080" cy="292608"/>
          </a:xfrm>
          <a:prstGeom prst="downArrow">
            <a:avLst/>
          </a:prstGeom>
          <a:solidFill>
            <a:srgbClr val="B8860B"/>
          </a:solidFill>
          <a:ln>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4800600"/>
            <a:ext cx="10332720" cy="868680"/>
          </a:xfrm>
          <a:prstGeom prst="roundRect">
            <a:avLst/>
          </a:prstGeom>
          <a:solidFill>
            <a:srgbClr val="E8F2FA"/>
          </a:solidFill>
          <a:ln>
            <a:solidFill>
              <a:srgbClr val="2E60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453"/>
                </a:solidFill>
                <a:latin typeface="Arial"/>
              </a:rPr>
              <a:t>OUTPUT / ACTION LAYER</a:t>
            </a:r>
          </a:p>
          <a:p>
            <a:pPr algn="ctr"/>
            <a:r>
              <a:rPr sz="1200">
                <a:solidFill>
                  <a:srgbClr val="232323"/>
                </a:solidFill>
                <a:latin typeface="Arial"/>
              </a:rPr>
              <a:t>Risk Alerts   |   Visitor Guidance   |   Personalized Stories   |   Conservation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sz="2200" b="1">
                <a:solidFill>
                  <a:srgbClr val="1F3453"/>
                </a:solidFill>
                <a:latin typeface="Arial"/>
              </a:rPr>
              <a:t>Role of Agentic AI in the Solution</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sz="1600" b="0">
                <a:solidFill>
                  <a:srgbClr val="232323"/>
                </a:solidFill>
                <a:latin typeface="Arial"/>
              </a:rPr>
              <a:t>Agentic AI enables HeritageAI to function as an intelligent, coordinated system rather than a simple chatbot. Each specialized agent performs a focused task while contributing to a common conservation workflow.
• Structural Health Monitoring Agent – monitors structural integrity using sensor and computer-vision inputs.
• Visitor Flow Management Agent – analyzes visitor density and helps route visitors to reduce structural impact.
• Personalized Heritage Storytelling Agent – generates narratives from historical data on demand.
• Encroachment Detection Agent – analyzes satellite/drone imagery for unauthorized structures in buffer zones.
• Conservation Reporting Agent – synthesizes multi-agent information into prioritized reports for stakeholders.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2200" b="1">
                <a:solidFill>
                  <a:srgbClr val="1F3453"/>
                </a:solidFill>
                <a:latin typeface="Arial"/>
              </a:rPr>
              <a:t>Token Usage</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1800" b="1">
                <a:solidFill>
                  <a:srgbClr val="232323"/>
                </a:solidFill>
                <a:latin typeface="Arial"/>
              </a:rPr>
              <a:t>Token usage data not provided in the supplied project files.</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sz="2200" b="1">
                <a:solidFill>
                  <a:srgbClr val="1F3453"/>
                </a:solidFill>
                <a:latin typeface="Arial"/>
              </a:rPr>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sz="1600" b="0">
                <a:solidFill>
                  <a:srgbClr val="232323"/>
                </a:solidFill>
                <a:latin typeface="Arial"/>
              </a:rPr>
              <a:t>The proposed HeritageAI platform combines Agentic AI with heritage conservation in a single coordinated solution.
Multi-Agent Intelligence – Five specialized agents collaborate across structural health, visitor flow, storytelling, encroachment, and reporting.
Preventive Conservation – Continuous monitoring and AI analysis can surface risks before they become larger conservation problems.
Smart Visitor Management – Visitor-flow analysis supports safer movement and reduced impact on heritage structures.
Personalized Cultural Storytelling – Historical information can be transformed into on-demand narratives for visitors.
Unified Conservation Reporting – Multi-agent findings are synthesized into prioritized reports for conservation stakeholders.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sz="2200" b="1">
                <a:solidFill>
                  <a:srgbClr val="1F3453"/>
                </a:solidFill>
                <a:latin typeface="Arial"/>
              </a:rPr>
              <a:t>GitHub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sz="1800" b="0">
                <a:solidFill>
                  <a:srgbClr val="232323"/>
                </a:solidFill>
                <a:latin typeface="Arial"/>
              </a:rPr>
              <a:t>GitHub repository link was not provided in the supplied project data.
When available, add the public repository URL here. The submission template requests the working GitHub URL and project files such as app.json, problem statement PDF, presentation PPTX, and other project files.</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sz="2200" b="1">
                <a:solidFill>
                  <a:srgbClr val="1F3453"/>
                </a:solidFill>
                <a:latin typeface="Arial"/>
              </a:rPr>
              <a:t>Future Scope</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sz="1600" b="0">
                <a:solidFill>
                  <a:srgbClr val="232323"/>
                </a:solidFill>
                <a:latin typeface="Arial"/>
              </a:rPr>
              <a:t>1. Expand monitoring coverage – Extend the platform to additional heritage monuments and protected zones across Gujarat.
2. Real-time sensor integration – Connect more structural and environmental sensors for continuous health monitoring.
3. Advanced visitor management – Improve live crowd-density analysis and intelligent visitor routing.
4. Multilingual cultural storytelling – Expand personalized heritage narratives for more languages and visitor groups.
5. Predictive conservation – Use accumulated monitoring data to identify emerging risks and support proactive conservation planning.
6. Wider stakeholder integration – Connect conservation reports and alerts with heritage authorities and site-management teams.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2400" b="1">
                <a:solidFill>
                  <a:srgbClr val="1F3453"/>
                </a:solidFill>
                <a:latin typeface="Arial"/>
              </a:rPr>
              <a:t>Certificates Earned:</a:t>
            </a:r>
          </a:p>
        </p:txBody>
      </p:sp>
      <p:pic>
        <p:nvPicPr>
          <p:cNvPr id="7" name="Picture 6" descr="credly.png"/>
          <p:cNvPicPr>
            <a:picLocks noChangeAspect="1"/>
          </p:cNvPicPr>
          <p:nvPr/>
        </p:nvPicPr>
        <p:blipFill>
          <a:blip r:embed="rId3"/>
          <a:stretch>
            <a:fillRect/>
          </a:stretch>
        </p:blipFill>
        <p:spPr>
          <a:xfrm>
            <a:off x="2011680" y="1097280"/>
            <a:ext cx="8138160" cy="539496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2400" b="1">
                <a:solidFill>
                  <a:srgbClr val="1F3453"/>
                </a:solidFill>
                <a:latin typeface="Arial"/>
              </a:rPr>
              <a:t>Certificates Earned:</a:t>
            </a:r>
            <a:endParaRPr lang="en-US"/>
          </a:p>
        </p:txBody>
      </p:sp>
      <p:pic>
        <p:nvPicPr>
          <p:cNvPr id="6" name="Picture 5" descr="lab.png"/>
          <p:cNvPicPr>
            <a:picLocks noChangeAspect="1"/>
          </p:cNvPicPr>
          <p:nvPr/>
        </p:nvPicPr>
        <p:blipFill>
          <a:blip r:embed="rId3"/>
          <a:stretch>
            <a:fillRect/>
          </a:stretch>
        </p:blipFill>
        <p:spPr>
          <a:xfrm>
            <a:off x="1828800" y="1234440"/>
            <a:ext cx="8503920" cy="539496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p:cNvSpPr txBox="1"/>
          <p:nvPr/>
        </p:nvSpPr>
        <p:spPr>
          <a:xfrm>
            <a:off x="2743200" y="2331720"/>
            <a:ext cx="6675120" cy="914400"/>
          </a:xfrm>
          <a:prstGeom prst="rect">
            <a:avLst/>
          </a:prstGeom>
          <a:noFill/>
        </p:spPr>
        <p:txBody>
          <a:bodyPr wrap="square">
            <a:spAutoFit/>
          </a:bodyPr>
          <a:lstStyle/>
          <a:p>
            <a:pPr algn="ctr"/>
            <a:r>
              <a:rPr sz="3400" b="1">
                <a:solidFill>
                  <a:srgbClr val="1F3453"/>
                </a:solidFill>
                <a:latin typeface="Arial"/>
              </a:rPr>
              <a:t>Thank You</a:t>
            </a:r>
          </a:p>
        </p:txBody>
      </p:sp>
      <p:sp>
        <p:nvSpPr>
          <p:cNvPr id="3" name="TextBox 2"/>
          <p:cNvSpPr txBox="1"/>
          <p:nvPr/>
        </p:nvSpPr>
        <p:spPr>
          <a:xfrm>
            <a:off x="2377440" y="3246120"/>
            <a:ext cx="7406640" cy="548640"/>
          </a:xfrm>
          <a:prstGeom prst="rect">
            <a:avLst/>
          </a:prstGeom>
          <a:noFill/>
        </p:spPr>
        <p:txBody>
          <a:bodyPr wrap="square">
            <a:spAutoFit/>
          </a:bodyPr>
          <a:lstStyle/>
          <a:p>
            <a:pPr algn="ctr"/>
            <a:r>
              <a:rPr sz="2000" b="0">
                <a:solidFill>
                  <a:srgbClr val="2E6091"/>
                </a:solidFill>
                <a:latin typeface="Arial"/>
              </a:rPr>
              <a:t>Smart Heritage Conservation Platform</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15</cp:revision>
  <dcterms:created xsi:type="dcterms:W3CDTF">2025-07-08T05:06:56Z</dcterms:created>
  <dcterms:modified xsi:type="dcterms:W3CDTF">2026-07-03T05:12:49Z</dcterms:modified>
</cp:coreProperties>
</file>